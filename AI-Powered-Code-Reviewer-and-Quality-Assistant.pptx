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MuseoModerno Medium" panose="020B0604020202020204" charset="0"/>
      <p:regular r:id="rId14"/>
    </p:embeddedFont>
    <p:embeddedFont>
      <p:font typeface="Source Sans 3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0" d="100"/>
          <a:sy n="40" d="100"/>
        </p:scale>
        <p:origin x="34" y="7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3332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50738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CF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sv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AI-Powered Code Reviewer and Quality Assistant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Automated Python code review that combines static analysis, code embeddings, and LLMs to surface style, performance, and bug risks — integrated into CLI, Git hooks, CI, and an optional Streamlit UI.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99157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Problem &amp; Purpose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040511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F3EEE3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5267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Challenge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5757743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Manual reviews are slow and inconsistent across fast-evolving codebases.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5040511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F3EEE3"/>
          </a:solidFill>
          <a:ln/>
        </p:spPr>
      </p:sp>
      <p:sp>
        <p:nvSpPr>
          <p:cNvPr id="8" name="Text 5"/>
          <p:cNvSpPr/>
          <p:nvPr/>
        </p:nvSpPr>
        <p:spPr>
          <a:xfrm>
            <a:off x="5443776" y="5267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Solution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43776" y="5757743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 AI-assisted tool to analyze Python code, provide actionable feedback, and reduce reviewer workload.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5040511"/>
            <a:ext cx="4196358" cy="2032754"/>
          </a:xfrm>
          <a:prstGeom prst="roundRect">
            <a:avLst>
              <a:gd name="adj" fmla="val 1674"/>
            </a:avLst>
          </a:prstGeom>
          <a:solidFill>
            <a:srgbClr val="F3EEE3"/>
          </a:solidFill>
          <a:ln/>
        </p:spPr>
      </p:sp>
      <p:sp>
        <p:nvSpPr>
          <p:cNvPr id="11" name="Text 8"/>
          <p:cNvSpPr/>
          <p:nvPr/>
        </p:nvSpPr>
        <p:spPr>
          <a:xfrm>
            <a:off x="9866948" y="52673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Interfaces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66948" y="5757743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Interact via CLI or optional Streamlit UI; integrate into PRs and CI pipelines.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4403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Core Outcomes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906441"/>
            <a:ext cx="914876" cy="11435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92154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CLI Tool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992154" y="4396859"/>
            <a:ext cx="296025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Scan, review, apply fixes, and export reports.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3906441"/>
            <a:ext cx="914876" cy="11435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34257" y="39064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Actionable Feedback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434257" y="4396859"/>
            <a:ext cx="296025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Natural-language suggestions for style, naming, tests, and bugs.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3906441"/>
            <a:ext cx="914876" cy="114359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876359" y="3906441"/>
            <a:ext cx="296025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Streamlit UI (Optional)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876359" y="4751189"/>
            <a:ext cx="296025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Visualize issues, accept/reject changes, and browse reports.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99479" y="852368"/>
            <a:ext cx="3664029" cy="43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Modules — Overview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9479" y="2683431"/>
            <a:ext cx="6141244" cy="342757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988862" y="1723192"/>
            <a:ext cx="3149560" cy="1168003"/>
          </a:xfrm>
          <a:prstGeom prst="roundRect">
            <a:avLst>
              <a:gd name="adj" fmla="val 6263"/>
            </a:avLst>
          </a:prstGeom>
          <a:solidFill>
            <a:srgbClr val="FFFCF5"/>
          </a:solidFill>
          <a:ln/>
        </p:spPr>
      </p:sp>
      <p:sp>
        <p:nvSpPr>
          <p:cNvPr id="5" name="Shape 2"/>
          <p:cNvSpPr/>
          <p:nvPr/>
        </p:nvSpPr>
        <p:spPr>
          <a:xfrm>
            <a:off x="8988862" y="1707952"/>
            <a:ext cx="3149560" cy="60960"/>
          </a:xfrm>
          <a:prstGeom prst="roundRect">
            <a:avLst>
              <a:gd name="adj" fmla="val 34347"/>
            </a:avLst>
          </a:prstGeom>
          <a:solidFill>
            <a:srgbClr val="325F7B"/>
          </a:solidFill>
          <a:ln/>
        </p:spPr>
      </p:sp>
      <p:sp>
        <p:nvSpPr>
          <p:cNvPr id="6" name="Shape 3"/>
          <p:cNvSpPr/>
          <p:nvPr/>
        </p:nvSpPr>
        <p:spPr>
          <a:xfrm>
            <a:off x="10354211" y="1513880"/>
            <a:ext cx="418743" cy="418743"/>
          </a:xfrm>
          <a:prstGeom prst="roundRect">
            <a:avLst>
              <a:gd name="adj" fmla="val 218368"/>
            </a:avLst>
          </a:prstGeom>
          <a:solidFill>
            <a:srgbClr val="325F7B"/>
          </a:solidFill>
          <a:ln/>
        </p:spPr>
      </p:sp>
      <p:sp>
        <p:nvSpPr>
          <p:cNvPr id="7" name="Text 4"/>
          <p:cNvSpPr/>
          <p:nvPr/>
        </p:nvSpPr>
        <p:spPr>
          <a:xfrm>
            <a:off x="10479822" y="1618536"/>
            <a:ext cx="167402" cy="209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3643" y="2072045"/>
            <a:ext cx="2205871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1. Code Parsing &amp; Analysis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143643" y="2375892"/>
            <a:ext cx="2839998" cy="360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AST extraction, complexity, imports, and smell detection.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988862" y="3186351"/>
            <a:ext cx="3149560" cy="1168003"/>
          </a:xfrm>
          <a:prstGeom prst="roundRect">
            <a:avLst>
              <a:gd name="adj" fmla="val 6263"/>
            </a:avLst>
          </a:prstGeom>
          <a:solidFill>
            <a:srgbClr val="FFFCF5"/>
          </a:solidFill>
          <a:ln/>
        </p:spPr>
      </p:sp>
      <p:sp>
        <p:nvSpPr>
          <p:cNvPr id="11" name="Shape 8"/>
          <p:cNvSpPr/>
          <p:nvPr/>
        </p:nvSpPr>
        <p:spPr>
          <a:xfrm>
            <a:off x="8988862" y="3171111"/>
            <a:ext cx="3149560" cy="60960"/>
          </a:xfrm>
          <a:prstGeom prst="roundRect">
            <a:avLst>
              <a:gd name="adj" fmla="val 34347"/>
            </a:avLst>
          </a:prstGeom>
          <a:solidFill>
            <a:srgbClr val="325F7B"/>
          </a:solidFill>
          <a:ln/>
        </p:spPr>
      </p:sp>
      <p:sp>
        <p:nvSpPr>
          <p:cNvPr id="12" name="Shape 9"/>
          <p:cNvSpPr/>
          <p:nvPr/>
        </p:nvSpPr>
        <p:spPr>
          <a:xfrm>
            <a:off x="10354211" y="2977039"/>
            <a:ext cx="418743" cy="418743"/>
          </a:xfrm>
          <a:prstGeom prst="roundRect">
            <a:avLst>
              <a:gd name="adj" fmla="val 218368"/>
            </a:avLst>
          </a:prstGeom>
          <a:solidFill>
            <a:srgbClr val="325F7B"/>
          </a:solidFill>
          <a:ln/>
        </p:spPr>
      </p:sp>
      <p:sp>
        <p:nvSpPr>
          <p:cNvPr id="13" name="Text 10"/>
          <p:cNvSpPr/>
          <p:nvPr/>
        </p:nvSpPr>
        <p:spPr>
          <a:xfrm>
            <a:off x="10479822" y="3081695"/>
            <a:ext cx="167402" cy="209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143643" y="3535204"/>
            <a:ext cx="1744742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2. AI Review Engine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143643" y="3839051"/>
            <a:ext cx="2839998" cy="360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LLM templates, severity ranking, optional autofixes.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988862" y="4649510"/>
            <a:ext cx="3149560" cy="1168003"/>
          </a:xfrm>
          <a:prstGeom prst="roundRect">
            <a:avLst>
              <a:gd name="adj" fmla="val 6263"/>
            </a:avLst>
          </a:prstGeom>
          <a:solidFill>
            <a:srgbClr val="FFFCF5"/>
          </a:solidFill>
          <a:ln/>
        </p:spPr>
      </p:sp>
      <p:sp>
        <p:nvSpPr>
          <p:cNvPr id="17" name="Shape 14"/>
          <p:cNvSpPr/>
          <p:nvPr/>
        </p:nvSpPr>
        <p:spPr>
          <a:xfrm>
            <a:off x="8988862" y="4634270"/>
            <a:ext cx="3149560" cy="60960"/>
          </a:xfrm>
          <a:prstGeom prst="roundRect">
            <a:avLst>
              <a:gd name="adj" fmla="val 34347"/>
            </a:avLst>
          </a:prstGeom>
          <a:solidFill>
            <a:srgbClr val="325F7B"/>
          </a:solidFill>
          <a:ln/>
        </p:spPr>
      </p:sp>
      <p:sp>
        <p:nvSpPr>
          <p:cNvPr id="18" name="Shape 15"/>
          <p:cNvSpPr/>
          <p:nvPr/>
        </p:nvSpPr>
        <p:spPr>
          <a:xfrm>
            <a:off x="10354211" y="4440198"/>
            <a:ext cx="418743" cy="418743"/>
          </a:xfrm>
          <a:prstGeom prst="roundRect">
            <a:avLst>
              <a:gd name="adj" fmla="val 218368"/>
            </a:avLst>
          </a:prstGeom>
          <a:solidFill>
            <a:srgbClr val="325F7B"/>
          </a:solidFill>
          <a:ln/>
        </p:spPr>
      </p:sp>
      <p:sp>
        <p:nvSpPr>
          <p:cNvPr id="19" name="Text 16"/>
          <p:cNvSpPr/>
          <p:nvPr/>
        </p:nvSpPr>
        <p:spPr>
          <a:xfrm>
            <a:off x="10479822" y="4544854"/>
            <a:ext cx="167402" cy="209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143643" y="4998363"/>
            <a:ext cx="1900714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3. Validation &amp; Metrics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9143643" y="5302210"/>
            <a:ext cx="2839998" cy="360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Quality scores, maintainability, coverage hints, CSV/HTML exports.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988862" y="6112669"/>
            <a:ext cx="3149560" cy="1168003"/>
          </a:xfrm>
          <a:prstGeom prst="roundRect">
            <a:avLst>
              <a:gd name="adj" fmla="val 6263"/>
            </a:avLst>
          </a:prstGeom>
          <a:solidFill>
            <a:srgbClr val="FFFCF5"/>
          </a:solidFill>
          <a:ln/>
        </p:spPr>
      </p:sp>
      <p:sp>
        <p:nvSpPr>
          <p:cNvPr id="23" name="Shape 20"/>
          <p:cNvSpPr/>
          <p:nvPr/>
        </p:nvSpPr>
        <p:spPr>
          <a:xfrm>
            <a:off x="8988862" y="6097429"/>
            <a:ext cx="3149560" cy="60960"/>
          </a:xfrm>
          <a:prstGeom prst="roundRect">
            <a:avLst>
              <a:gd name="adj" fmla="val 34347"/>
            </a:avLst>
          </a:prstGeom>
          <a:solidFill>
            <a:srgbClr val="325F7B"/>
          </a:solidFill>
          <a:ln/>
        </p:spPr>
      </p:sp>
      <p:sp>
        <p:nvSpPr>
          <p:cNvPr id="24" name="Shape 21"/>
          <p:cNvSpPr/>
          <p:nvPr/>
        </p:nvSpPr>
        <p:spPr>
          <a:xfrm>
            <a:off x="10354211" y="5903357"/>
            <a:ext cx="418743" cy="418743"/>
          </a:xfrm>
          <a:prstGeom prst="roundRect">
            <a:avLst>
              <a:gd name="adj" fmla="val 218368"/>
            </a:avLst>
          </a:prstGeom>
          <a:solidFill>
            <a:srgbClr val="325F7B"/>
          </a:solidFill>
          <a:ln/>
        </p:spPr>
      </p:sp>
      <p:sp>
        <p:nvSpPr>
          <p:cNvPr id="25" name="Text 22"/>
          <p:cNvSpPr/>
          <p:nvPr/>
        </p:nvSpPr>
        <p:spPr>
          <a:xfrm>
            <a:off x="10479822" y="6008013"/>
            <a:ext cx="167402" cy="209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143643" y="6461522"/>
            <a:ext cx="1744742" cy="218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4. CLI, VCS &amp; CI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9143643" y="6765369"/>
            <a:ext cx="2839998" cy="360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Commands, pyproject config, pre-commit and CI templates.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1238"/>
            <a:ext cx="69500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Milestone 1 — Weeks 1–2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9364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Parsing &amp; baseline generation: AST-based extractor, baseline Google-style docstrings, and initial docstring coverage report.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111698"/>
            <a:ext cx="3700105" cy="22868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5682020"/>
            <a:ext cx="33435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Implementation Output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172438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Files scanned, parser accuracy ~95%, generated baseline docstrings for missing cases.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3111698"/>
            <a:ext cx="3700224" cy="22868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6884" y="56820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Example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456884" y="6172438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DataProcessor.__init__: Initialize the DataProcessor with data. Args: data (list)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5002" y="523756"/>
            <a:ext cx="5781080" cy="57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Milestone 2 — Weeks 3–4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65002" y="1397556"/>
            <a:ext cx="12700278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Synthesis &amp; validation: add NumPy/reST styles, Raises/Yields/Attributes sections, integrate pydocstyle checks and coverage reporting.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002" y="2000250"/>
            <a:ext cx="4153138" cy="55374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574863" y="4357688"/>
            <a:ext cx="8097917" cy="904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Support for Google, NumPy, reST styles — 90% coverage target.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Validation flagged specific files: utils.py (D400) and api.py (D205).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CLI validator produced detailed compliance report and categories.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77228"/>
            <a:ext cx="712470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Milestone 3 — Weeks 5–6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172616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Workflow &amp; CI: pre-commit hook, CI workflows with coverage gates, Streamlit review UI prototype and side-by-side diffs.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2707124"/>
            <a:ext cx="226814" cy="1360884"/>
          </a:xfrm>
          <a:prstGeom prst="roundRect">
            <a:avLst>
              <a:gd name="adj" fmla="val 15001"/>
            </a:avLst>
          </a:prstGeom>
          <a:solidFill>
            <a:srgbClr val="F3EEE3"/>
          </a:solidFill>
          <a:ln/>
        </p:spPr>
      </p:sp>
      <p:sp>
        <p:nvSpPr>
          <p:cNvPr id="6" name="Text 3"/>
          <p:cNvSpPr/>
          <p:nvPr/>
        </p:nvSpPr>
        <p:spPr>
          <a:xfrm>
            <a:off x="6733818" y="29339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Pre-commit &amp; CI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733818" y="3424357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Fast pre-commit (&lt;5s) and CI steps to block builds under threshold.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620351" y="4294823"/>
            <a:ext cx="226814" cy="1669852"/>
          </a:xfrm>
          <a:prstGeom prst="roundRect">
            <a:avLst>
              <a:gd name="adj" fmla="val 15001"/>
            </a:avLst>
          </a:prstGeom>
          <a:solidFill>
            <a:srgbClr val="F3EEE3"/>
          </a:solidFill>
          <a:ln/>
        </p:spPr>
      </p:sp>
      <p:sp>
        <p:nvSpPr>
          <p:cNvPr id="9" name="Text 6"/>
          <p:cNvSpPr/>
          <p:nvPr/>
        </p:nvSpPr>
        <p:spPr>
          <a:xfrm>
            <a:off x="7073979" y="45216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Streamlit Prototype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073979" y="5012055"/>
            <a:ext cx="676263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Preview, accept/reject docstrings; per-file counts (data_processor.py:3, utils.py:2, api.py:1).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960632" y="6191488"/>
            <a:ext cx="226814" cy="1360884"/>
          </a:xfrm>
          <a:prstGeom prst="roundRect">
            <a:avLst>
              <a:gd name="adj" fmla="val 15001"/>
            </a:avLst>
          </a:prstGeom>
          <a:solidFill>
            <a:srgbClr val="F3EEE3"/>
          </a:solidFill>
          <a:ln/>
        </p:spPr>
      </p:sp>
      <p:sp>
        <p:nvSpPr>
          <p:cNvPr id="12" name="Text 9"/>
          <p:cNvSpPr/>
          <p:nvPr/>
        </p:nvSpPr>
        <p:spPr>
          <a:xfrm>
            <a:off x="7414260" y="641830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Commands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14260" y="6908721"/>
            <a:ext cx="642235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scan, review, apply, report, diff — configurable via pyproject.toml.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37717"/>
            <a:ext cx="712410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Milestone 4 — Weeks 7–8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278665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Packaging &amp; finalization: pip-installable package, robust tests, improved Streamlit UI (filters, search), published docs and guides.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880961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80%</a:t>
            </a:r>
            <a:endParaRPr lang="en-US" sz="5850" dirty="0"/>
          </a:p>
        </p:txBody>
      </p:sp>
      <p:sp>
        <p:nvSpPr>
          <p:cNvPr id="6" name="Text 3"/>
          <p:cNvSpPr/>
          <p:nvPr/>
        </p:nvSpPr>
        <p:spPr>
          <a:xfrm>
            <a:off x="793790" y="4912757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Acceptance Rate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5403175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Developers report ≥80% acceptance of generated docstrings.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3407093" y="3880961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3min</a:t>
            </a:r>
            <a:endParaRPr lang="en-US" sz="5850" dirty="0"/>
          </a:p>
        </p:txBody>
      </p:sp>
      <p:sp>
        <p:nvSpPr>
          <p:cNvPr id="9" name="Text 6"/>
          <p:cNvSpPr/>
          <p:nvPr/>
        </p:nvSpPr>
        <p:spPr>
          <a:xfrm>
            <a:off x="3407093" y="4912757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End-to-End Time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3407093" y="5403175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Works on medium projects (&lt;2k functions) in under 3 minutes.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020395" y="3880961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100%</a:t>
            </a:r>
            <a:endParaRPr lang="en-US" sz="5850" dirty="0"/>
          </a:p>
        </p:txBody>
      </p:sp>
      <p:sp>
        <p:nvSpPr>
          <p:cNvPr id="12" name="Text 9"/>
          <p:cNvSpPr/>
          <p:nvPr/>
        </p:nvSpPr>
        <p:spPr>
          <a:xfrm>
            <a:off x="6020395" y="4912757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CI Success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020395" y="5403175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CI success rate reported for sample run: 100% across 24 files.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00664"/>
            <a:ext cx="67771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Architecture &amp; Data Flow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2549604"/>
            <a:ext cx="7556421" cy="2835473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33416" y="3271850"/>
            <a:ext cx="390314" cy="390314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2385671" y="4696740"/>
            <a:ext cx="1139717" cy="21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CLI / UI / CI</a:t>
            </a:r>
            <a:endParaRPr lang="en-US" sz="135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304501" y="3272582"/>
            <a:ext cx="390315" cy="390314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10949315" y="4696740"/>
            <a:ext cx="1139717" cy="21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Validation</a:t>
            </a:r>
            <a:endParaRPr lang="en-US" sz="135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75952" y="3272582"/>
            <a:ext cx="390314" cy="390314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9520766" y="4586965"/>
            <a:ext cx="1139716" cy="439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Docstring Gen</a:t>
            </a:r>
            <a:endParaRPr lang="en-US" sz="1350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47403" y="3272582"/>
            <a:ext cx="390314" cy="390314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8092217" y="4696740"/>
            <a:ext cx="1139716" cy="21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Parser</a:t>
            </a:r>
            <a:endParaRPr lang="en-US" sz="1350" dirty="0"/>
          </a:p>
        </p:txBody>
      </p:sp>
      <p:pic>
        <p:nvPicPr>
          <p:cNvPr id="13" name="Image 6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011046" y="3272582"/>
            <a:ext cx="390314" cy="390314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6632442" y="4696740"/>
            <a:ext cx="1139717" cy="21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Source Code</a:t>
            </a:r>
            <a:endParaRPr lang="en-US" sz="1350" dirty="0"/>
          </a:p>
        </p:txBody>
      </p:sp>
      <p:sp>
        <p:nvSpPr>
          <p:cNvPr id="15" name="Text 6"/>
          <p:cNvSpPr/>
          <p:nvPr/>
        </p:nvSpPr>
        <p:spPr>
          <a:xfrm>
            <a:off x="6280190" y="564022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core engine processes parsed source code, generates docstrings, validates them, and exposes results to CLI, Streamlit UI, pre-commit hooks, and CI pipelines.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56" y="589240"/>
            <a:ext cx="8322350" cy="669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124E73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Database, Schema &amp; Evaluation</a:t>
            </a:r>
            <a:endParaRPr lang="en-US" sz="4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56" y="1789986"/>
            <a:ext cx="4255889" cy="567451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536049" y="2674144"/>
            <a:ext cx="4074795" cy="3906083"/>
          </a:xfrm>
          <a:prstGeom prst="roundRect">
            <a:avLst>
              <a:gd name="adj" fmla="val 823"/>
            </a:avLst>
          </a:prstGeom>
          <a:solidFill>
            <a:srgbClr val="FFFCF5"/>
          </a:solidFill>
          <a:ln w="30480">
            <a:solidFill>
              <a:srgbClr val="D9D4C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80723" y="2918817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Schema Highlights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780723" y="3456027"/>
            <a:ext cx="3585448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Tables for parsed artifacts, generator templates, validation results, and CLI interactions.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9813250" y="2674144"/>
            <a:ext cx="4074795" cy="3906083"/>
          </a:xfrm>
          <a:prstGeom prst="roundRect">
            <a:avLst>
              <a:gd name="adj" fmla="val 823"/>
            </a:avLst>
          </a:prstGeom>
          <a:solidFill>
            <a:srgbClr val="FFFCF5"/>
          </a:solidFill>
          <a:ln w="30480">
            <a:solidFill>
              <a:srgbClr val="D9D4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7924" y="2918817"/>
            <a:ext cx="2678311" cy="334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2B4150"/>
                </a:solidFill>
                <a:latin typeface="MuseoModerno Medium" pitchFamily="34" charset="0"/>
                <a:ea typeface="MuseoModerno Medium" pitchFamily="34" charset="-122"/>
                <a:cs typeface="MuseoModerno Medium" pitchFamily="34" charset="-120"/>
              </a:rPr>
              <a:t>Evaluation Criteria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057924" y="3456027"/>
            <a:ext cx="3585448" cy="28795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Milestone 1: ≥95% extraction &amp; baseline docstrings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Milestone 2: PEP 257 compliance, ≥90% coverage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Milestone 3: Pre-commit &lt;5s, CI enforcement</a:t>
            </a:r>
            <a:endParaRPr lang="en-US" sz="165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650" dirty="0">
                <a:solidFill>
                  <a:srgbClr val="2B415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Milestone 4: pip package, ≥80% docstring acceptance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6904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627</Words>
  <Application>Microsoft Office PowerPoint</Application>
  <PresentationFormat>Custom</PresentationFormat>
  <Paragraphs>84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Source Sans 3</vt:lpstr>
      <vt:lpstr>Arial</vt:lpstr>
      <vt:lpstr>MuseoModerno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DISHA R GOWDA</cp:lastModifiedBy>
  <cp:revision>2</cp:revision>
  <dcterms:created xsi:type="dcterms:W3CDTF">2026-02-18T13:41:56Z</dcterms:created>
  <dcterms:modified xsi:type="dcterms:W3CDTF">2026-02-18T13:45:36Z</dcterms:modified>
</cp:coreProperties>
</file>